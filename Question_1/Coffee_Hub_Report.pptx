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Relationship Id="rId11" Type="http://schemas.openxmlformats.org/officeDocument/2006/relationships/slide" Target="slides/slide4.xml"/>
<Relationship Id="rId12" Type="http://schemas.openxmlformats.org/officeDocument/2006/relationships/slide" Target="slides/slide5.xml"/>
<Relationship Id="rId13" Type="http://schemas.openxmlformats.org/officeDocument/2006/relationships/slide" Target="slides/slide6.xml"/>
<Relationship Id="rId14" Type="http://schemas.openxmlformats.org/officeDocument/2006/relationships/slide" Target="slides/slide7.xml"/>
<Relationship Id="rId15" Type="http://schemas.openxmlformats.org/officeDocument/2006/relationships/slide" Target="slides/slide8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a921d36b352317b1f5d57077f6acb418b69530fb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f9b83250b1b7275eecc7f06e470ca3092c4d6e0c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f73647c51498e795675c3eafb2934d888d26312b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575f181c72eb329dd52f5a3bd5aad18a4e1432c7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7501432c928a3cc8dba33fad5e75cec87ca8b01f.png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640080" y="2011680"/>
            <a:ext cx="8229600" cy="10972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200" i="0" b="1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Coffee Hub: Review Analysis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40080" y="3108960"/>
            <a:ext cx="8229600" cy="9144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600" i="0" b="0" u="none" strike="noStrike">
                <a:solidFill>
                  <a:srgbClr val="6F4E37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Profiling reviewed coffees across origin, roast, value, roaster, student taste-match and cost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274320"/>
            <a:ext cx="8229600" cy="8229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Data &amp; Method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40080" y="1280160"/>
            <a:ext cx="8229600" cy="4572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Loaded the raw CSV and fixed Excel/UTF-8 encoding (Latin-ASCII) so accented origin &amp; roaster names are clean.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Dropped coffees missing a roast type or any of the three reviewer descriptions to avoid biased averages.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Engineered Cost_rands (USD x 16.17, 17 Jun 2026 rate) and desc_all (merged reviews for keyword scoring).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Scored each coffee against 29 top Stellenbosch student keywords (kw_hits) and flagged student_match at/above the median.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Summarised seven key factors; the five most decision-relevant are visualised next.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274320"/>
            <a:ext cx="8229600" cy="8229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Top Coffee Origins by Average Rating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365760" y="1280160"/>
            <a:ext cx="4754880" cy="3383280"/>
          </a:xfrm>
          <a:prstGeom prst="rect">
            <a:avLst/>
          </a:prstGeom>
        </p:spPr>
      </p:pic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5394960" y="1280160"/>
            <a:ext cx="3383280" cy="47548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East African regions and a few premium single-origins lead: Boquete (Panama, ~94.6), Kiambu (Kenya, 94.5) and Sidama (Ethiopia, 94.4).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All twelve top origins sit in a very narrow 93.6-94.6 band - barely one rating point apart.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Origin signals quality (classic high-altitude specialty regions), but differences among the leaders are small, so origin alone weakly separates the best coffees.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274320"/>
            <a:ext cx="8229600" cy="8229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Rating Distribution by Roast Type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365760" y="1280160"/>
            <a:ext cx="4754880" cy="3383280"/>
          </a:xfrm>
          <a:prstGeom prst="rect">
            <a:avLst/>
          </a:prstGeom>
        </p:spPr>
      </p:pic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5394960" y="1280160"/>
            <a:ext cx="3383280" cy="47548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Lighter roasts score higher, almost monotonically.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Light &amp; Medium-Light have the highest medians (~93) with tight boxes; Medium / Medium-Dark sit near 92.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Dark roast is the clear laggard - median ~87.5 and a much wider spread (lower AND less consistent).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Takeaway: favour light / medium-light roasts for the highest, most reliable scores.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274320"/>
            <a:ext cx="8229600" cy="8229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Cost vs Rating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365760" y="1280160"/>
            <a:ext cx="4754880" cy="3383280"/>
          </a:xfrm>
          <a:prstGeom prst="rect">
            <a:avLst/>
          </a:prstGeom>
        </p:spPr>
      </p:pic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5394960" y="1280160"/>
            <a:ext cx="3383280" cy="47548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Price is a poor predictor of quality.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Points cluster below ~$20/100g and span almost the full rating range (88-97), so many cheap coffees score as well as expensive ones.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Only a faint upward tilt with strong diminishing returns; $50-$130 coffees are not meaningfully better.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Student keyword hits (colour) spread across all prices - good taste-fit is NOT confined to pricey coffees.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274320"/>
            <a:ext cx="8229600" cy="8229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Top 10 Roasters (&gt;= 5 coffees reviewed)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365760" y="1280160"/>
            <a:ext cx="4754880" cy="3383280"/>
          </a:xfrm>
          <a:prstGeom prst="rect">
            <a:avLst/>
          </a:prstGeom>
        </p:spPr>
      </p:pic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5394960" y="1280160"/>
            <a:ext cx="3383280" cy="47548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Hula Daddy Kona Coffee stands out at ~95.1 - the only roaster clearing 95 and visibly ahead of the field.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Simon Hsieh Aroma Roast and Taster's Coffee (~94.6) and PT's Coffee Roasting Co. (94.5) lead a tight 94.0-94.3 chase pack.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As with origins, leaders differ by ~one point: read roaster reputation as 'consistently excellent', with Hula Daddy the lone top outlier.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274320"/>
            <a:ext cx="8229600" cy="8229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Cost Distribution of Reviewed Coffees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365760" y="1280160"/>
            <a:ext cx="4754880" cy="3383280"/>
          </a:xfrm>
          <a:prstGeom prst="rect">
            <a:avLst/>
          </a:prstGeom>
        </p:spPr>
      </p:pic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5394960" y="1280160"/>
            <a:ext cx="3383280" cy="47548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The price distribution is heavily right-skewed.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Most coffees cluster around the median of $5.86/100g, dropping off sharply after ~$15, with a long thin premium tail past $100.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The mean is pulled up by those outliers, so the median is the fairer 'typical price'.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The market is overwhelmingly affordable; luxury coffees sell on scarcity, not a rating premium.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274320"/>
            <a:ext cx="8229600" cy="8229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1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Overall Conclusion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640080" y="1280160"/>
            <a:ext cx="8229600" cy="4572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Quality is broad and shallow at the top: best origins (93.6-94.6) and roasters (94.0-95.1) are bunched within ~one rating point.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Roast level moves ratings most - lighter is better; dark roast underperforms and is erratic.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Origin character matters - East African and select premium single-origins lead.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3B231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Price barely tracks quality - most coffees ~$5.86/100g and the expensive tail buys little extra rating.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3B2314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Recommendation for a Stellenbosch-student buyer: a light-to-medium, East-African or top-roaster coffee with high student keyword hits, at a low price - no trade-off required.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2026-06-18T13:06:01Z</dcterms:modified>
  <cp:category/>
</cp:coreProperties>
</file>